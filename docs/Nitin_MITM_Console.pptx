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1795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0F0EB-4B42-E428-D415-0E934490F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2DF729-E747-C41D-5425-57C67F54E1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0278B1-BE51-1F27-2C87-C9FE8FCE8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89C88-7AC5-794D-F756-F487B18E9A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425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 Operator Console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Host Discovery, ARP Monitoring &amp;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00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Capture in an Isolated Lab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200400" cy="36576"/>
          </a:xfrm>
          <a:prstGeom prst="rect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DDA8EA9-8832-C409-9355-2EC4DECC6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7972" y="1760220"/>
            <a:ext cx="3858245" cy="19202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professional-grade lab security console to demonstrate a full network security workflow — all within an isolated, private virtual environment.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27632"/>
            <a:ext cx="256032" cy="256032"/>
          </a:xfrm>
          <a:prstGeom prst="ellipse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16002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active LAN hosts and build an IP/MAC inventory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2231136"/>
            <a:ext cx="256032" cy="256032"/>
          </a:xfrm>
          <a:prstGeom prst="ellipse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203704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220370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normal ARP baseline mappings (before/after reference)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256032" cy="256032"/>
          </a:xfrm>
          <a:prstGeom prst="ellipse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807208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28072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ARP replies in real time and detect mapping changes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3438144"/>
            <a:ext cx="256032" cy="256032"/>
          </a:xfrm>
          <a:prstGeom prst="ellipse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3410712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341071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ARP events to a database with timestamps and severity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54880" y="1627632"/>
            <a:ext cx="256032" cy="256032"/>
          </a:xfrm>
          <a:prstGeom prst="ellipse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1600200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02352" y="16002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network packets into PCAP files for Wireshark validation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54880" y="2231136"/>
            <a:ext cx="256032" cy="256032"/>
          </a:xfrm>
          <a:prstGeom prst="ellipse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2203704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02352" y="220370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traffic with flow-statistics and protocol breakdown plugins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54880" y="2834640"/>
            <a:ext cx="256032" cy="256032"/>
          </a:xfrm>
          <a:prstGeom prst="ellipse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2807208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02352" y="28072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all results in a Flask-powered web operator dashboard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Topology &amp; Environment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5303520" cy="2798064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274320" y="3657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1. VirtualBox Manager — 3 VMs on isolated host-only network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852160" y="914400"/>
            <a:ext cx="3017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52160" y="914400"/>
            <a:ext cx="54864" cy="868680"/>
          </a:xfrm>
          <a:prstGeom prst="rect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07608" y="978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VM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07608" y="12435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192.168.255.1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07608" y="14630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gateway, routing relay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52160" y="1965960"/>
            <a:ext cx="3017520" cy="868680"/>
          </a:xfrm>
          <a:prstGeom prst="rect">
            <a:avLst/>
          </a:prstGeom>
          <a:solidFill>
            <a:srgbClr val="E8ED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852160" y="1965960"/>
            <a:ext cx="54864" cy="868680"/>
          </a:xfrm>
          <a:prstGeom prst="rect">
            <a:avLst/>
          </a:prstGeom>
          <a:solidFill>
            <a:srgbClr val="1A6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007608" y="2029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VM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007608" y="22951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192.168.255.10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07608" y="25146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host for demo traffic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52160" y="3017520"/>
            <a:ext cx="3017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852160" y="3017520"/>
            <a:ext cx="54864" cy="8686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007608" y="3081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VM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007608" y="33467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192.168.255.20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007608" y="35661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console, Scapy engine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760720" y="4160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VMs use a VirtualBox host-only adapter — no external traffic escapes the lab.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965960" cy="1417320"/>
          </a:xfrm>
          <a:prstGeom prst="rect">
            <a:avLst/>
          </a:prstGeom>
          <a:solidFill>
            <a:srgbClr val="0D2137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965960" cy="54864"/>
          </a:xfrm>
          <a:prstGeom prst="rect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44475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implementation language for all modules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914400"/>
            <a:ext cx="1965960" cy="1417320"/>
          </a:xfrm>
          <a:prstGeom prst="rect">
            <a:avLst/>
          </a:prstGeom>
          <a:solidFill>
            <a:srgbClr val="0D2137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68880" y="914400"/>
            <a:ext cx="1965960" cy="54864"/>
          </a:xfrm>
          <a:prstGeom prst="rect">
            <a:avLst/>
          </a:prstGeom>
          <a:solidFill>
            <a:srgbClr val="1A6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0" y="10515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144475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sniffing, ARP probing, and PCAP parsing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1965960" cy="1417320"/>
          </a:xfrm>
          <a:prstGeom prst="rect">
            <a:avLst/>
          </a:prstGeom>
          <a:solidFill>
            <a:srgbClr val="0D2137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196596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10515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144475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backend serving the operator dashboard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914400"/>
            <a:ext cx="1965960" cy="1417320"/>
          </a:xfrm>
          <a:prstGeom prst="rect">
            <a:avLst/>
          </a:prstGeom>
          <a:solidFill>
            <a:srgbClr val="0D2137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58000" y="914400"/>
            <a:ext cx="1965960" cy="54864"/>
          </a:xfrm>
          <a:prstGeom prst="rect">
            <a:avLst/>
          </a:prstGeom>
          <a:solidFill>
            <a:srgbClr val="00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49440" y="10515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144475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layer for hosts and ARP events storage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560320"/>
            <a:ext cx="1965960" cy="1417320"/>
          </a:xfrm>
          <a:prstGeom prst="rect">
            <a:avLst/>
          </a:prstGeom>
          <a:solidFill>
            <a:srgbClr val="0D2137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56032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26974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309067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embedded database for all session data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68880" y="2560320"/>
            <a:ext cx="1965960" cy="1417320"/>
          </a:xfrm>
          <a:prstGeom prst="rect">
            <a:avLst/>
          </a:prstGeom>
          <a:solidFill>
            <a:srgbClr val="0D2137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468880" y="2560320"/>
            <a:ext cx="196596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560320" y="26974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560320" y="309067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lab hypervisor — 3-VM private network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560320"/>
            <a:ext cx="1965960" cy="1417320"/>
          </a:xfrm>
          <a:prstGeom prst="rect">
            <a:avLst/>
          </a:prstGeom>
          <a:solidFill>
            <a:srgbClr val="0D2137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63440" y="2560320"/>
            <a:ext cx="196596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26974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754880" y="309067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verification and traffic validation tool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58000" y="2560320"/>
            <a:ext cx="1965960" cy="1417320"/>
          </a:xfrm>
          <a:prstGeom prst="rect">
            <a:avLst/>
          </a:prstGeom>
          <a:solidFill>
            <a:srgbClr val="0D2137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858000" y="2560320"/>
            <a:ext cx="1965960" cy="54864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49440" y="26974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49440" y="309067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Attacker/console VM OS with pre-installed tools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75488" y="1005840"/>
            <a:ext cx="402336" cy="402336"/>
          </a:xfrm>
          <a:prstGeom prst="ellipse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005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8016" y="1508760"/>
            <a:ext cx="10972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8016" y="1508760"/>
            <a:ext cx="1097280" cy="36576"/>
          </a:xfrm>
          <a:prstGeom prst="rect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3736" y="157276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Setup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" y="2176272"/>
            <a:ext cx="1005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3 VMs on host-only LAN; configure IPs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234440" y="2542032"/>
            <a:ext cx="192024" cy="45720"/>
          </a:xfrm>
          <a:prstGeom prst="rect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98448" y="245973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73936" y="1005840"/>
            <a:ext cx="402336" cy="402336"/>
          </a:xfrm>
          <a:prstGeom prst="ellipse">
            <a:avLst/>
          </a:prstGeom>
          <a:solidFill>
            <a:srgbClr val="1A6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773936" y="1005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426464" y="1508760"/>
            <a:ext cx="10972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426464" y="1508760"/>
            <a:ext cx="1097280" cy="36576"/>
          </a:xfrm>
          <a:prstGeom prst="rect">
            <a:avLst/>
          </a:prstGeom>
          <a:solidFill>
            <a:srgbClr val="1A6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472184" y="157276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Discovery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72184" y="2176272"/>
            <a:ext cx="1005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broadcast scan → IP/MAC inventory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32888" y="2542032"/>
            <a:ext cx="192024" cy="45720"/>
          </a:xfrm>
          <a:prstGeom prst="rect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96896" y="245973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72384" y="1005840"/>
            <a:ext cx="402336" cy="402336"/>
          </a:xfrm>
          <a:prstGeom prst="ellipse">
            <a:avLst/>
          </a:prstGeom>
          <a:solidFill>
            <a:srgbClr val="00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072384" y="1005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24912" y="1508760"/>
            <a:ext cx="10972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24912" y="1508760"/>
            <a:ext cx="1097280" cy="36576"/>
          </a:xfrm>
          <a:prstGeom prst="rect">
            <a:avLst/>
          </a:prstGeom>
          <a:solidFill>
            <a:srgbClr val="00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70632" y="157276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Baseline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70632" y="2176272"/>
            <a:ext cx="1005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normal IP→MAC mappings for reference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831336" y="2542032"/>
            <a:ext cx="192024" cy="45720"/>
          </a:xfrm>
          <a:prstGeom prst="rect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95344" y="245973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70832" y="1005840"/>
            <a:ext cx="402336" cy="402336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370832" y="1005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023360" y="1508760"/>
            <a:ext cx="10972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023360" y="1508760"/>
            <a:ext cx="1097280" cy="36576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069080" y="157276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Monitoring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069080" y="2176272"/>
            <a:ext cx="1005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 of ARP replies + event logging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129784" y="2542032"/>
            <a:ext cx="192024" cy="45720"/>
          </a:xfrm>
          <a:prstGeom prst="rect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193792" y="245973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0" y="1005840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669280" y="1005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321808" y="1508760"/>
            <a:ext cx="10972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321808" y="1508760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367528" y="157276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Capture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67528" y="2176272"/>
            <a:ext cx="1005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PCAP session artifacts to disk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28232" y="2542032"/>
            <a:ext cx="192024" cy="45720"/>
          </a:xfrm>
          <a:prstGeom prst="rect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92240" y="245973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967728" y="1005840"/>
            <a:ext cx="402336" cy="402336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967728" y="1005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620256" y="1508760"/>
            <a:ext cx="10972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620256" y="1508760"/>
            <a:ext cx="1097280" cy="3657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665976" y="157276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Analysis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665976" y="2176272"/>
            <a:ext cx="1005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Plugin: flow stats, protocol breakdown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726680" y="2542032"/>
            <a:ext cx="192024" cy="45720"/>
          </a:xfrm>
          <a:prstGeom prst="rect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790688" y="245973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266176" y="1005840"/>
            <a:ext cx="402336" cy="402336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266176" y="1005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7918704" y="1508760"/>
            <a:ext cx="10972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918704" y="1508760"/>
            <a:ext cx="1097280" cy="3657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964424" y="157276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964424" y="2176272"/>
            <a:ext cx="1005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UI — hosts, events, flow stats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Discovery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ARP broadcast (who-has) packets to all /24 addresses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ARP replies: IP address + MAC address pairs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Hostnames resolved where available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stored directly in SQLite via SQLAlchemy ORM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/hosts page reflects live database content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3291840"/>
            <a:ext cx="3749040" cy="822960"/>
          </a:xfrm>
          <a:prstGeom prst="rect">
            <a:avLst/>
          </a:prstGeom>
          <a:solidFill>
            <a:srgbClr val="E8FDF5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3291840"/>
            <a:ext cx="45720" cy="822960"/>
          </a:xfrm>
          <a:prstGeom prst="rect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333756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Discovered: Gateway (192.168.255.1) + Victim (192.168.255.10)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stored in SQLite hosts table ✓</a:t>
            </a:r>
            <a:endParaRPr lang="en-US" sz="11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804672"/>
            <a:ext cx="4572000" cy="1947672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11" name="Text 8"/>
          <p:cNvSpPr/>
          <p:nvPr/>
        </p:nvSpPr>
        <p:spPr>
          <a:xfrm>
            <a:off x="4297680" y="27797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6. Host discovery terminal output with DB save confirmation</a:t>
            </a:r>
            <a:endParaRPr lang="en-US" sz="9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090672"/>
            <a:ext cx="4572000" cy="100584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13" name="Text 9"/>
          <p:cNvSpPr/>
          <p:nvPr/>
        </p:nvSpPr>
        <p:spPr>
          <a:xfrm>
            <a:off x="4297680" y="41330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8. /hosts dashboard — IP, MAC, hostname from live database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Baseline Capture &amp; Live Monitoring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22960"/>
            <a:ext cx="4389120" cy="1207008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320040" y="206654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9. ARP baseline — normal IP→MAC mappings recorded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892040" y="82296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Baseline Module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current gateway and victim IP→MAC mappings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as the "normal" reference state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before/after comparison for change detection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" y="2377440"/>
            <a:ext cx="8503920" cy="27432"/>
          </a:xfrm>
          <a:prstGeom prst="rect">
            <a:avLst/>
          </a:prstGeom>
          <a:solidFill>
            <a:srgbClr val="E8ED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487168"/>
            <a:ext cx="8503920" cy="1133856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10" name="Text 6"/>
          <p:cNvSpPr/>
          <p:nvPr/>
        </p:nvSpPr>
        <p:spPr>
          <a:xfrm>
            <a:off x="320040" y="36576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11. Live ARP monitor — real-time observed ARP reply stream from Scapy sniffer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65760" y="3931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monitor sniffs all replies on the interface using Scapy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observed IP→MAC mappings against baseline for anomaly detection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Event Logging &amp; Database Persistence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ARP event stores: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43584"/>
            <a:ext cx="164592" cy="164592"/>
          </a:xfrm>
          <a:prstGeom prst="ellipse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188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(UTC)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09344"/>
            <a:ext cx="164592" cy="164592"/>
          </a:xfrm>
          <a:prstGeom prst="ellipse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IP address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975104"/>
            <a:ext cx="164592" cy="164592"/>
          </a:xfrm>
          <a:prstGeom prst="ellipse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MAC address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340864"/>
            <a:ext cx="164592" cy="164592"/>
          </a:xfrm>
          <a:prstGeom prst="ellipse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2860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 / severity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706624"/>
            <a:ext cx="164592" cy="164592"/>
          </a:xfrm>
          <a:prstGeom prst="ellipse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6517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message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3657600" cy="868680"/>
          </a:xfrm>
          <a:prstGeom prst="rect">
            <a:avLst/>
          </a:prstGeom>
          <a:solidFill>
            <a:srgbClr val="EFF6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154680"/>
            <a:ext cx="45720" cy="868680"/>
          </a:xfrm>
          <a:prstGeom prst="rect">
            <a:avLst/>
          </a:prstGeom>
          <a:solidFill>
            <a:srgbClr val="1A6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20040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output → Log file (.json) → SQLite DB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storage targets written simultaneously</a:t>
            </a:r>
            <a:endParaRPr lang="en-US" sz="11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804672"/>
            <a:ext cx="4572000" cy="320040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20" name="Text 17"/>
          <p:cNvSpPr/>
          <p:nvPr/>
        </p:nvSpPr>
        <p:spPr>
          <a:xfrm>
            <a:off x="4251960" y="40416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12/13. /arp-events dashboard — timestamped events from SQLite</a:t>
            </a:r>
            <a:endParaRPr lang="en-US" sz="9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4279392"/>
            <a:ext cx="4572000" cy="621792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Capture &amp; PCAP Management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25603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2560320" cy="45720"/>
          </a:xfrm>
          <a:prstGeom prst="rect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Start Capture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704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Scapy sniffer activated, session timer begins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99232" y="987552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37560" y="822960"/>
            <a:ext cx="25603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37560" y="822960"/>
            <a:ext cx="2560320" cy="45720"/>
          </a:xfrm>
          <a:prstGeom prst="rect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29000" y="868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Save PCAP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1704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written to data/pcaps/test_capture.pcap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71032" y="987552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09360" y="822960"/>
            <a:ext cx="25603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822960"/>
            <a:ext cx="2560320" cy="45720"/>
          </a:xfrm>
          <a:prstGeom prst="rect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868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Read &amp; Validate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11704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loaded back, packet count confirmed (20 pkts)</a:t>
            </a:r>
            <a:endParaRPr lang="en-US" sz="10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719072"/>
            <a:ext cx="4206240" cy="658368"/>
          </a:xfrm>
          <a:prstGeom prst="rect">
            <a:avLst/>
          </a:prstGeom>
          <a:effectLst>
            <a:outerShdw blurRad="76200" dist="12700" dir="81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20" name="Text 17"/>
          <p:cNvSpPr/>
          <p:nvPr/>
        </p:nvSpPr>
        <p:spPr>
          <a:xfrm>
            <a:off x="320040" y="241401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16. Capture start — 20 packets captured, PCAP path confirmed</a:t>
            </a:r>
            <a:endParaRPr lang="en-US" sz="9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719072"/>
            <a:ext cx="4069080" cy="658368"/>
          </a:xfrm>
          <a:prstGeom prst="rect">
            <a:avLst/>
          </a:prstGeom>
          <a:effectLst>
            <a:outerShdw blurRad="76200" dist="12700" dir="81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22" name="Text 18"/>
          <p:cNvSpPr/>
          <p:nvPr/>
        </p:nvSpPr>
        <p:spPr>
          <a:xfrm>
            <a:off x="4754880" y="241401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18. PCAP readback: 20 packets loaded from data/pcaps/test_capture.pcap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320040" y="2761488"/>
            <a:ext cx="8503920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320040" y="2761488"/>
            <a:ext cx="54864" cy="1444752"/>
          </a:xfrm>
          <a:prstGeom prst="rect">
            <a:avLst/>
          </a:prstGeom>
          <a:solidFill>
            <a:srgbClr val="00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502920" y="2807208"/>
            <a:ext cx="82296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Artifacts &amp; Verification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 stores a uniquely-named PCAP file plus metadata in SQLite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files are downloadable directly from the dashboard for Wireshark validation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 path: data/pcaps/test_capture.pcap — confirmed 20 packets in demo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Analysis — Flow Statistics Plugin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Framework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accept PCAP/session metadata as input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 structured JSON summary to the dashboard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Implemented: Flow Statistics plugin (demo)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Results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3520440" cy="621792"/>
          </a:xfrm>
          <a:prstGeom prst="rect">
            <a:avLst/>
          </a:prstGeom>
          <a:solidFill>
            <a:srgbClr val="E8FDF5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45720" cy="621792"/>
          </a:xfrm>
          <a:prstGeom prst="rect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6609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— 10 pkts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9260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ping testing between VMs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337560"/>
            <a:ext cx="3520440" cy="621792"/>
          </a:xfrm>
          <a:prstGeom prst="rect">
            <a:avLst/>
          </a:prstGeom>
          <a:solidFill>
            <a:srgbClr val="EFF6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45720" cy="621792"/>
          </a:xfrm>
          <a:prstGeom prst="rect">
            <a:avLst/>
          </a:prstGeom>
          <a:solidFill>
            <a:srgbClr val="1A6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3924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— 10 pkts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6576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resolution traffic</a:t>
            </a:r>
            <a:endParaRPr lang="en-US" sz="10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804672"/>
            <a:ext cx="4709160" cy="2578608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17" name="Text 14"/>
          <p:cNvSpPr/>
          <p:nvPr/>
        </p:nvSpPr>
        <p:spPr>
          <a:xfrm>
            <a:off x="4114800" y="3419856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19. Terminal: protocol counts and top IP-to-IP flow summary from saved PCAP</a:t>
            </a:r>
            <a:endParaRPr lang="en-US" sz="9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3703320"/>
            <a:ext cx="4709160" cy="109728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Operator Dashboard (Flask)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5029200" cy="2322576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274320" y="316382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22. Styled Discovered Hosts dashboard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804672"/>
            <a:ext cx="3337560" cy="1545336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5486400" y="238658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23. Styled ARP Events dashboard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486400" y="265176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0" y="2971800"/>
            <a:ext cx="118872" cy="118872"/>
          </a:xfrm>
          <a:prstGeom prst="ellipse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650992" y="292608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Home overview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0" y="3218688"/>
            <a:ext cx="118872" cy="118872"/>
          </a:xfrm>
          <a:prstGeom prst="ellipse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650992" y="317296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/hosts  Network map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0" y="3465576"/>
            <a:ext cx="118872" cy="118872"/>
          </a:xfrm>
          <a:prstGeom prst="ellipse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650992" y="3419856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/arp-events  ARP timeline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0" y="3712464"/>
            <a:ext cx="118872" cy="118872"/>
          </a:xfrm>
          <a:prstGeom prst="ellipse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5650992" y="366674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/plugins/flow-stats  Flow stats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274320" y="3950208"/>
            <a:ext cx="859536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274320" y="3950208"/>
            <a:ext cx="54864" cy="896112"/>
          </a:xfrm>
          <a:prstGeom prst="rect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57200" y="3986784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Organizes all results clearly — every module's output accessible in one place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database-backed: real SQLite data rendered live, not hardcoded HTML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Dramatically improves demo readability and project professionalism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3474720"/>
          </a:xfrm>
          <a:prstGeom prst="rect">
            <a:avLst/>
          </a:prstGeom>
          <a:solidFill>
            <a:srgbClr val="0D2137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114800" cy="45720"/>
          </a:xfrm>
          <a:prstGeom prst="rect">
            <a:avLst/>
          </a:prstGeom>
          <a:solidFill>
            <a:srgbClr val="00C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Achievements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LAN host discovery with database persistence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ARP baseline capture for before/after comparison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0665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ARP monitoring and event logging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41401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Packet capture to PCAP with readback validation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76148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Flow statistics plugin (protocol + flow summary)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1089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Flask operator dashboard with live DB data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4114800" cy="3474720"/>
          </a:xfrm>
          <a:prstGeom prst="rect">
            <a:avLst/>
          </a:prstGeom>
          <a:solidFill>
            <a:srgbClr val="0D2137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4114800" cy="4572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0600" y="987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13716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Additional plugins: DNS, TLS/SNI, anomaly score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00600" y="17190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Full session create/stop controls via dashboard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00600" y="20665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HTML/PDF report export with Wireshark screenshots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0600" y="241401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Enhanced UI styling and responsive layout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00600" y="276148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ARP event severity scoring &amp; alert threshold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00600" y="31089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Timeline visualization for ARP events page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testing conducted strictly in an isolated VirtualBox lab network for security research.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5D0BF5-DCC7-E62A-C5F6-6B075C612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>
            <a:extLst>
              <a:ext uri="{FF2B5EF4-FFF2-40B4-BE49-F238E27FC236}">
                <a16:creationId xmlns:a16="http://schemas.microsoft.com/office/drawing/2014/main" id="{6C755426-E46D-87F1-24DE-7DF2BEE5CD8B}"/>
              </a:ext>
            </a:extLst>
          </p:cNvPr>
          <p:cNvSpPr/>
          <p:nvPr/>
        </p:nvSpPr>
        <p:spPr>
          <a:xfrm>
            <a:off x="1062332" y="210701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800" dirty="0"/>
          </a:p>
        </p:txBody>
      </p:sp>
      <p:pic>
        <p:nvPicPr>
          <p:cNvPr id="1026" name="Picture 2" descr="Man-In-The-Middle Images – Browse 578 Stock Photos, Vectors, and Video |  Adobe Stock">
            <a:extLst>
              <a:ext uri="{FF2B5EF4-FFF2-40B4-BE49-F238E27FC236}">
                <a16:creationId xmlns:a16="http://schemas.microsoft.com/office/drawing/2014/main" id="{9722166B-641D-441C-6A3C-8A6453F6A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103" y="853908"/>
            <a:ext cx="4069002" cy="3336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8598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6260</TotalTime>
  <Words>953</Words>
  <Application>Microsoft Office PowerPoint</Application>
  <PresentationFormat>On-screen Show (16:9)</PresentationFormat>
  <Paragraphs>173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MITM Operator Console</dc:title>
  <dc:subject>PptxGenJS Presentation</dc:subject>
  <dc:creator>Nitin Pranav</dc:creator>
  <cp:lastModifiedBy>Nitin Pranav</cp:lastModifiedBy>
  <cp:revision>4</cp:revision>
  <dcterms:created xsi:type="dcterms:W3CDTF">2026-04-18T18:15:06Z</dcterms:created>
  <dcterms:modified xsi:type="dcterms:W3CDTF">2026-04-23T03:42:13Z</dcterms:modified>
</cp:coreProperties>
</file>